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1091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Movie Reviews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 ·  GRU  ·  BERT: A Comparative Study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32004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Wehbe &amp; Rami Aabed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·  April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8" name="Shape 6"/>
          <p:cNvSpPr/>
          <p:nvPr/>
        </p:nvSpPr>
        <p:spPr>
          <a:xfrm>
            <a:off x="7543800" y="914400"/>
            <a:ext cx="1371600" cy="82296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9" name="Text 7"/>
          <p:cNvSpPr/>
          <p:nvPr/>
        </p:nvSpPr>
        <p:spPr>
          <a:xfrm>
            <a:off x="7543800" y="1078992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543800" y="2103120"/>
            <a:ext cx="1371600" cy="822960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1" name="Text 9"/>
          <p:cNvSpPr/>
          <p:nvPr/>
        </p:nvSpPr>
        <p:spPr>
          <a:xfrm>
            <a:off x="7543800" y="2267712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543800" y="3291840"/>
            <a:ext cx="1371600" cy="82296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3" name="Text 11"/>
          <p:cNvSpPr/>
          <p:nvPr/>
        </p:nvSpPr>
        <p:spPr>
          <a:xfrm>
            <a:off x="7543800" y="3456432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274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movie review, automatically determine whether the sentiment expressed is positive or negative.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binary text classification task: one of the most fundamental problems in Natural Language Processing.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monitoring at scale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opinion analysis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classification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reputation tracking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777240"/>
            <a:ext cx="2971800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0" name="Text 8"/>
          <p:cNvSpPr/>
          <p:nvPr/>
        </p:nvSpPr>
        <p:spPr>
          <a:xfrm>
            <a:off x="5760720" y="8686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89320" y="1417320"/>
            <a:ext cx="2514600" cy="77724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2" name="Text 10"/>
          <p:cNvSpPr/>
          <p:nvPr/>
        </p:nvSpPr>
        <p:spPr>
          <a:xfrm>
            <a:off x="5989320" y="145389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89320" y="181965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+ learned embeddings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2423160"/>
            <a:ext cx="2514600" cy="777240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5" name="Text 13"/>
          <p:cNvSpPr/>
          <p:nvPr/>
        </p:nvSpPr>
        <p:spPr>
          <a:xfrm>
            <a:off x="5989320" y="245973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89320" y="282549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recurrent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3429000"/>
            <a:ext cx="2514600" cy="77724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8" name="Text 16"/>
          <p:cNvSpPr/>
          <p:nvPr/>
        </p:nvSpPr>
        <p:spPr>
          <a:xfrm>
            <a:off x="5989320" y="346557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89320" y="38313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transformer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41605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 · Same metrics · Direct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IMDb Large Movie Review 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274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25603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5603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9" name="Text 7"/>
          <p:cNvSpPr/>
          <p:nvPr/>
        </p:nvSpPr>
        <p:spPr>
          <a:xfrm>
            <a:off x="3246120" y="868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4612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777240"/>
            <a:ext cx="25603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2" name="Text 10"/>
          <p:cNvSpPr/>
          <p:nvPr/>
        </p:nvSpPr>
        <p:spPr>
          <a:xfrm>
            <a:off x="6080760" y="868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8076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Neg Balance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Splits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4572000" cy="14630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/ 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/ 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/ 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303520" y="777240"/>
            <a:ext cx="34290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7" name="Shape 14"/>
          <p:cNvSpPr/>
          <p:nvPr/>
        </p:nvSpPr>
        <p:spPr>
          <a:xfrm>
            <a:off x="5303520" y="777240"/>
            <a:ext cx="64008" cy="3749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8" name="Text 15"/>
          <p:cNvSpPr/>
          <p:nvPr/>
        </p:nvSpPr>
        <p:spPr>
          <a:xfrm>
            <a:off x="5486400" y="9144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486400" y="13258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&amp; GRU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0" y="16002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HTML tags &amp; special characters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+ whitespace tokenisation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/ truncate to 200 tokens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vocabulary: top 20,000 words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0" y="28346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0" y="31089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subword tokenisation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[CLS] and [SEP] tokens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/ truncate to 256 tokens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274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64008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~3.8M params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2468880" cy="420624"/>
          </a:xfrm>
          <a:prstGeom prst="rect">
            <a:avLst/>
          </a:prstGeom>
          <a:solidFill>
            <a:srgbClr val="4C72B0">
              <a:alpha val="15000"/>
            </a:srgbClr>
          </a:solidFill>
          <a:ln w="12700">
            <a:solidFill>
              <a:srgbClr val="4C72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0" name="Text 8"/>
          <p:cNvSpPr/>
          <p:nvPr/>
        </p:nvSpPr>
        <p:spPr>
          <a:xfrm>
            <a:off x="411480" y="18928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 (128-dim)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359152"/>
            <a:ext cx="2468880" cy="420624"/>
          </a:xfrm>
          <a:prstGeom prst="rect">
            <a:avLst/>
          </a:prstGeom>
          <a:solidFill>
            <a:srgbClr val="4C72B0">
              <a:alpha val="15000"/>
            </a:srgbClr>
          </a:solidFill>
          <a:ln w="12700">
            <a:solidFill>
              <a:srgbClr val="4C72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(128 hidden units)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89504"/>
            <a:ext cx="2468880" cy="420624"/>
          </a:xfrm>
          <a:prstGeom prst="rect">
            <a:avLst/>
          </a:prstGeom>
          <a:solidFill>
            <a:srgbClr val="4C72B0">
              <a:alpha val="15000"/>
            </a:srgbClr>
          </a:solidFill>
          <a:ln w="12700">
            <a:solidFill>
              <a:srgbClr val="4C72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4" name="Text 12"/>
          <p:cNvSpPr/>
          <p:nvPr/>
        </p:nvSpPr>
        <p:spPr>
          <a:xfrm>
            <a:off x="411480" y="2953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(p=0.3)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419856"/>
            <a:ext cx="2468880" cy="420624"/>
          </a:xfrm>
          <a:prstGeom prst="rect">
            <a:avLst/>
          </a:prstGeom>
          <a:solidFill>
            <a:srgbClr val="4C72B0">
              <a:alpha val="15000"/>
            </a:srgbClr>
          </a:solidFill>
          <a:ln w="12700">
            <a:solidFill>
              <a:srgbClr val="4C72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6" name="Text 14"/>
          <p:cNvSpPr/>
          <p:nvPr/>
        </p:nvSpPr>
        <p:spPr>
          <a:xfrm>
            <a:off x="411480" y="34838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1 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0507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forget, input &amp; output gates to control long-range memory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77724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9" name="Shape 17"/>
          <p:cNvSpPr/>
          <p:nvPr/>
        </p:nvSpPr>
        <p:spPr>
          <a:xfrm>
            <a:off x="3200400" y="777240"/>
            <a:ext cx="2743200" cy="640080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0" name="Text 18"/>
          <p:cNvSpPr/>
          <p:nvPr/>
        </p:nvSpPr>
        <p:spPr>
          <a:xfrm>
            <a:off x="3200400" y="822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00400" y="1481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~3.5M params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1828800"/>
            <a:ext cx="2468880" cy="420624"/>
          </a:xfrm>
          <a:prstGeom prst="rect">
            <a:avLst/>
          </a:prstGeom>
          <a:solidFill>
            <a:srgbClr val="DD8452">
              <a:alpha val="15000"/>
            </a:srgbClr>
          </a:solidFill>
          <a:ln w="12700">
            <a:solidFill>
              <a:srgbClr val="DD845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3" name="Text 21"/>
          <p:cNvSpPr/>
          <p:nvPr/>
        </p:nvSpPr>
        <p:spPr>
          <a:xfrm>
            <a:off x="3337560" y="18928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 (128-dim)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359152"/>
            <a:ext cx="2468880" cy="420624"/>
          </a:xfrm>
          <a:prstGeom prst="rect">
            <a:avLst/>
          </a:prstGeom>
          <a:solidFill>
            <a:srgbClr val="DD8452">
              <a:alpha val="15000"/>
            </a:srgbClr>
          </a:solidFill>
          <a:ln w="12700">
            <a:solidFill>
              <a:srgbClr val="DD845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5" name="Text 23"/>
          <p:cNvSpPr/>
          <p:nvPr/>
        </p:nvSpPr>
        <p:spPr>
          <a:xfrm>
            <a:off x="3337560" y="24231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(128 hidden units)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2889504"/>
            <a:ext cx="2468880" cy="420624"/>
          </a:xfrm>
          <a:prstGeom prst="rect">
            <a:avLst/>
          </a:prstGeom>
          <a:solidFill>
            <a:srgbClr val="DD8452">
              <a:alpha val="15000"/>
            </a:srgbClr>
          </a:solidFill>
          <a:ln w="12700">
            <a:solidFill>
              <a:srgbClr val="DD845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7" name="Text 25"/>
          <p:cNvSpPr/>
          <p:nvPr/>
        </p:nvSpPr>
        <p:spPr>
          <a:xfrm>
            <a:off x="3337560" y="2953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(p=0.3)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3419856"/>
            <a:ext cx="2468880" cy="420624"/>
          </a:xfrm>
          <a:prstGeom prst="rect">
            <a:avLst/>
          </a:prstGeom>
          <a:solidFill>
            <a:srgbClr val="DD8452">
              <a:alpha val="15000"/>
            </a:srgbClr>
          </a:solidFill>
          <a:ln w="12700">
            <a:solidFill>
              <a:srgbClr val="DD845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9" name="Text 27"/>
          <p:cNvSpPr/>
          <p:nvPr/>
        </p:nvSpPr>
        <p:spPr>
          <a:xfrm>
            <a:off x="3337560" y="34838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1 output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400507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gates for efficiency: fewer params, faster convergence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77724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32" name="Shape 30"/>
          <p:cNvSpPr/>
          <p:nvPr/>
        </p:nvSpPr>
        <p:spPr>
          <a:xfrm>
            <a:off x="6126480" y="777240"/>
            <a:ext cx="2743200" cy="64008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3" name="Text 31"/>
          <p:cNvSpPr/>
          <p:nvPr/>
        </p:nvSpPr>
        <p:spPr>
          <a:xfrm>
            <a:off x="6126480" y="822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26480" y="1481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~110M params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1828800"/>
            <a:ext cx="2468880" cy="420624"/>
          </a:xfrm>
          <a:prstGeom prst="rect">
            <a:avLst/>
          </a:prstGeom>
          <a:solidFill>
            <a:srgbClr val="2CA02C">
              <a:alpha val="15000"/>
            </a:srgbClr>
          </a:solidFill>
          <a:ln w="12700">
            <a:solidFill>
              <a:srgbClr val="2CA02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6" name="Text 34"/>
          <p:cNvSpPr/>
          <p:nvPr/>
        </p:nvSpPr>
        <p:spPr>
          <a:xfrm>
            <a:off x="6263640" y="18928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Tokenizer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2359152"/>
            <a:ext cx="2468880" cy="420624"/>
          </a:xfrm>
          <a:prstGeom prst="rect">
            <a:avLst/>
          </a:prstGeom>
          <a:solidFill>
            <a:srgbClr val="2CA02C">
              <a:alpha val="15000"/>
            </a:srgbClr>
          </a:solidFill>
          <a:ln w="12700">
            <a:solidFill>
              <a:srgbClr val="2CA02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8" name="Text 36"/>
          <p:cNvSpPr/>
          <p:nvPr/>
        </p:nvSpPr>
        <p:spPr>
          <a:xfrm>
            <a:off x="6263640" y="24231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Transformer layers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2889504"/>
            <a:ext cx="2468880" cy="420624"/>
          </a:xfrm>
          <a:prstGeom prst="rect">
            <a:avLst/>
          </a:prstGeom>
          <a:solidFill>
            <a:srgbClr val="2CA02C">
              <a:alpha val="15000"/>
            </a:srgbClr>
          </a:solidFill>
          <a:ln w="12700">
            <a:solidFill>
              <a:srgbClr val="2CA02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0" name="Text 38"/>
          <p:cNvSpPr/>
          <p:nvPr/>
        </p:nvSpPr>
        <p:spPr>
          <a:xfrm>
            <a:off x="6263640" y="2953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on [CLS] (p=0.3)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63640" y="3419856"/>
            <a:ext cx="2468880" cy="420624"/>
          </a:xfrm>
          <a:prstGeom prst="rect">
            <a:avLst/>
          </a:prstGeom>
          <a:solidFill>
            <a:srgbClr val="2CA02C">
              <a:alpha val="15000"/>
            </a:srgbClr>
          </a:solidFill>
          <a:ln w="12700">
            <a:solidFill>
              <a:srgbClr val="2CA02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2" name="Text 40"/>
          <p:cNvSpPr/>
          <p:nvPr/>
        </p:nvSpPr>
        <p:spPr>
          <a:xfrm>
            <a:off x="6263640" y="34838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1 output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400507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3.3B words:  fine-tuned end-to-end for 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274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" cy="388620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&amp; GRU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3840480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 (lr = 1e-3)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BCEWithLogitsLoss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seq 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Vocab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 =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846320" y="777240"/>
            <a:ext cx="54864" cy="388620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9" name="Text 6"/>
          <p:cNvSpPr/>
          <p:nvPr/>
        </p:nvSpPr>
        <p:spPr>
          <a:xfrm>
            <a:off x="5029200" y="822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Fine-Tuning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234440"/>
          <a:ext cx="3840480" cy="3200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bert-base-uncased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  (lr = 2e-5)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BCEWithLogitsLoss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seq 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warmup (10%)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 clipping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norm = 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274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777240"/>
            <a:ext cx="7470648" cy="1874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697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Training &amp; validation loss per epoch for LSTM, GRU, and BERT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186" y="2999232"/>
            <a:ext cx="5259629" cy="1874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919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Validation accuracy and F1-score per epoch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Test Set Performance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274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560320" cy="141732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73.8%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73.9%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560320" cy="1417320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0" name="Text 8"/>
          <p:cNvSpPr/>
          <p:nvPr/>
        </p:nvSpPr>
        <p:spPr>
          <a:xfrm>
            <a:off x="3200400" y="841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11887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00400" y="1755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83.1%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777240"/>
            <a:ext cx="2560320" cy="141732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4" name="Text 12"/>
          <p:cNvSpPr/>
          <p:nvPr/>
        </p:nvSpPr>
        <p:spPr>
          <a:xfrm>
            <a:off x="6035040" y="841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5040" y="11887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35040" y="1755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91.3%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2276061"/>
            <a:ext cx="4809744" cy="23774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Accuracy, Precision, Recall and F1-Score on the 25,000-sample test set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Confusion Matrix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274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031029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852928"/>
            <a:ext cx="503102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(left)  ·  GRU (right)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878" y="804672"/>
            <a:ext cx="2533802" cy="2011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35878" y="2852928"/>
            <a:ext cx="25338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65760" y="31821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65760" y="3511296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6,552 total errors, roughly symmetric between false positives and false negatives.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DD8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GRU: 4,377 errors; biased toward false positives (recall 86% &gt; precision 80%).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 only 2,161 errors; near-balanced, precision 92.2% vs recall 90.4%.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572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57200" cy="658368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6070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achieves 91.4% accuracy: outperforming GRU by +9% and LSTM by +18%. Pre-training on 3.3B words gives a decisive advantage.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57200" cy="658368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9" name="Text 7"/>
          <p:cNvSpPr/>
          <p:nvPr/>
        </p:nvSpPr>
        <p:spPr>
          <a:xfrm>
            <a:off x="365760" y="207568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02082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outperforms LSTM despite being simpler. Fewer, more efficient gates generalise better on this task.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4572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98094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</a:t>
            </a:r>
            <a:r>
              <a:rPr lang="en-US" sz="1250" dirty="0" err="1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</a:t>
            </a:r>
            <a:r>
              <a:rPr lang="en-US" sz="12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well: the train/test accuracy gap is small, indicating no significant overfitting.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4572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5" name="Text 13"/>
          <p:cNvSpPr/>
          <p:nvPr/>
        </p:nvSpPr>
        <p:spPr>
          <a:xfrm>
            <a:off x="365760" y="399592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94106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trade-off: BERT is ~10× slower to train and requires more memory. Choose based on constraints.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608</Words>
  <Application>Microsoft Macintosh PowerPoint</Application>
  <PresentationFormat>On-screen Show (16:9)</PresentationFormat>
  <Paragraphs>150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of Movie Reviews</dc:title>
  <dc:subject>PptxGenJS Presentation</dc:subject>
  <dc:creator>Daniel Wehde &amp; Rami Aabed</dc:creator>
  <cp:lastModifiedBy>Daniel Wehbe</cp:lastModifiedBy>
  <cp:revision>2</cp:revision>
  <dcterms:created xsi:type="dcterms:W3CDTF">2026-04-19T13:32:14Z</dcterms:created>
  <dcterms:modified xsi:type="dcterms:W3CDTF">2026-05-10T12:15:50Z</dcterms:modified>
</cp:coreProperties>
</file>