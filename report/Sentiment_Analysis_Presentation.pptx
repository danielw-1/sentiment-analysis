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0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3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10919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Movie Reviews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8BB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 ·  GRU  ·  BERT: A Comparative Study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32004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Wehbe &amp; Rami Aabed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NLP  ·  April 2026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0" y="0"/>
            <a:ext cx="1828800" cy="5143500"/>
          </a:xfrm>
          <a:prstGeom prst="rect">
            <a:avLst/>
          </a:prstGeom>
          <a:solidFill>
            <a:srgbClr val="162850"/>
          </a:solidFill>
          <a:ln w="12700">
            <a:solidFill>
              <a:srgbClr val="16285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8" name="Shape 6"/>
          <p:cNvSpPr/>
          <p:nvPr/>
        </p:nvSpPr>
        <p:spPr>
          <a:xfrm>
            <a:off x="7543800" y="914400"/>
            <a:ext cx="1371600" cy="82296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9" name="Text 7"/>
          <p:cNvSpPr/>
          <p:nvPr/>
        </p:nvSpPr>
        <p:spPr>
          <a:xfrm>
            <a:off x="7543800" y="1078992"/>
            <a:ext cx="1371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543800" y="2103120"/>
            <a:ext cx="1371600" cy="82296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1" name="Text 9"/>
          <p:cNvSpPr/>
          <p:nvPr/>
        </p:nvSpPr>
        <p:spPr>
          <a:xfrm>
            <a:off x="7543800" y="2267712"/>
            <a:ext cx="1371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7543800" y="3291840"/>
            <a:ext cx="1371600" cy="82296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3" name="Text 11"/>
          <p:cNvSpPr/>
          <p:nvPr/>
        </p:nvSpPr>
        <p:spPr>
          <a:xfrm>
            <a:off x="7543800" y="3456432"/>
            <a:ext cx="137160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5" name="Text 3"/>
          <p:cNvSpPr/>
          <p:nvPr/>
        </p:nvSpPr>
        <p:spPr>
          <a:xfrm>
            <a:off x="411480" y="822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movie review, automatically determine whether the sentiment expressed is positive or negative.</a:t>
            </a:r>
            <a:endParaRPr lang="en-US" sz="1350" dirty="0"/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binary text classification task: one of the most fundamental problems in Natural Language Processing.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1148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297180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review monitoring at scale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media opinion analysis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feedback classification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reputation tracking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760720" y="777240"/>
            <a:ext cx="2971800" cy="3749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0" name="Text 8"/>
          <p:cNvSpPr/>
          <p:nvPr/>
        </p:nvSpPr>
        <p:spPr>
          <a:xfrm>
            <a:off x="5760720" y="86868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89320" y="1417320"/>
            <a:ext cx="2514600" cy="77724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2" name="Text 10"/>
          <p:cNvSpPr/>
          <p:nvPr/>
        </p:nvSpPr>
        <p:spPr>
          <a:xfrm>
            <a:off x="5989320" y="145389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89320" y="181965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+ learned embeddings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89320" y="2423160"/>
            <a:ext cx="2514600" cy="77724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5" name="Text 13"/>
          <p:cNvSpPr/>
          <p:nvPr/>
        </p:nvSpPr>
        <p:spPr>
          <a:xfrm>
            <a:off x="5989320" y="245973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989320" y="282549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Streamlined recurrent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89320" y="3429000"/>
            <a:ext cx="2514600" cy="77724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8" name="Text 16"/>
          <p:cNvSpPr/>
          <p:nvPr/>
        </p:nvSpPr>
        <p:spPr>
          <a:xfrm>
            <a:off x="5989320" y="3465576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89320" y="38313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transformer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4160520"/>
            <a:ext cx="2971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B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dataset · Same metrics · Direct comparison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IMDb Large Movie Review Dataset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256032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6" name="Text 4"/>
          <p:cNvSpPr/>
          <p:nvPr/>
        </p:nvSpPr>
        <p:spPr>
          <a:xfrm>
            <a:off x="411480" y="868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50,000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Reviews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777240"/>
            <a:ext cx="256032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9" name="Text 7"/>
          <p:cNvSpPr/>
          <p:nvPr/>
        </p:nvSpPr>
        <p:spPr>
          <a:xfrm>
            <a:off x="3246120" y="868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24612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80760" y="777240"/>
            <a:ext cx="2560320" cy="10972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2" name="Text 10"/>
          <p:cNvSpPr/>
          <p:nvPr/>
        </p:nvSpPr>
        <p:spPr>
          <a:xfrm>
            <a:off x="6080760" y="86868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8076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/ Neg Balance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2057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Splits</a:t>
            </a:r>
            <a:endParaRPr lang="en-US" sz="15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395728"/>
          <a:ext cx="4572000" cy="14630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Balance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/ 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/ 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 / 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5303520" y="777240"/>
            <a:ext cx="3429000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7" name="Shape 14"/>
          <p:cNvSpPr/>
          <p:nvPr/>
        </p:nvSpPr>
        <p:spPr>
          <a:xfrm>
            <a:off x="5303520" y="777240"/>
            <a:ext cx="64008" cy="3749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8" name="Text 15"/>
          <p:cNvSpPr/>
          <p:nvPr/>
        </p:nvSpPr>
        <p:spPr>
          <a:xfrm>
            <a:off x="5486400" y="914400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5486400" y="132588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&amp; GRU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0" y="160020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HTML tags &amp; special characters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Lowercase + whitespace tokenisation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/ truncate to 200 tokens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vocabulary: top 20,000 words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486400" y="283464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486400" y="310896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 subword tokenisation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[CLS] and [SEP] tokens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 / truncate to 256 tokens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6" name="Shape 4"/>
          <p:cNvSpPr/>
          <p:nvPr/>
        </p:nvSpPr>
        <p:spPr>
          <a:xfrm>
            <a:off x="274320" y="777240"/>
            <a:ext cx="2743200" cy="64008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7" name="Text 5"/>
          <p:cNvSpPr/>
          <p:nvPr/>
        </p:nvSpPr>
        <p:spPr>
          <a:xfrm>
            <a:off x="274320" y="822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274320" y="14813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~3.8M params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1480" y="1828800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0" name="Text 8"/>
          <p:cNvSpPr/>
          <p:nvPr/>
        </p:nvSpPr>
        <p:spPr>
          <a:xfrm>
            <a:off x="411480" y="189280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Layer (128-dim)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2359152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2" name="Text 10"/>
          <p:cNvSpPr/>
          <p:nvPr/>
        </p:nvSpPr>
        <p:spPr>
          <a:xfrm>
            <a:off x="411480" y="24231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(128 hidden units)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889504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4" name="Text 12"/>
          <p:cNvSpPr/>
          <p:nvPr/>
        </p:nvSpPr>
        <p:spPr>
          <a:xfrm>
            <a:off x="411480" y="29535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(p=0.3)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419856"/>
            <a:ext cx="2468880" cy="420624"/>
          </a:xfrm>
          <a:prstGeom prst="rect">
            <a:avLst/>
          </a:prstGeom>
          <a:solidFill>
            <a:srgbClr val="4C72B0">
              <a:alpha val="15000"/>
            </a:srgbClr>
          </a:solidFill>
          <a:ln w="12700">
            <a:solidFill>
              <a:srgbClr val="4C72B0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6" name="Text 14"/>
          <p:cNvSpPr/>
          <p:nvPr/>
        </p:nvSpPr>
        <p:spPr>
          <a:xfrm>
            <a:off x="411480" y="348386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→ 1 output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400507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forget, input &amp; output gates to control long-range memory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0" y="777240"/>
            <a:ext cx="27432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9" name="Shape 17"/>
          <p:cNvSpPr/>
          <p:nvPr/>
        </p:nvSpPr>
        <p:spPr>
          <a:xfrm>
            <a:off x="3200400" y="777240"/>
            <a:ext cx="2743200" cy="64008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20" name="Text 18"/>
          <p:cNvSpPr/>
          <p:nvPr/>
        </p:nvSpPr>
        <p:spPr>
          <a:xfrm>
            <a:off x="3200400" y="822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200400" y="14813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~3.5M params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1828800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23" name="Text 21"/>
          <p:cNvSpPr/>
          <p:nvPr/>
        </p:nvSpPr>
        <p:spPr>
          <a:xfrm>
            <a:off x="3337560" y="189280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Layer (128-dim)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359152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25" name="Text 23"/>
          <p:cNvSpPr/>
          <p:nvPr/>
        </p:nvSpPr>
        <p:spPr>
          <a:xfrm>
            <a:off x="3337560" y="24231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(128 hidden units)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2889504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27" name="Text 25"/>
          <p:cNvSpPr/>
          <p:nvPr/>
        </p:nvSpPr>
        <p:spPr>
          <a:xfrm>
            <a:off x="3337560" y="29535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(p=0.3)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419856"/>
            <a:ext cx="2468880" cy="420624"/>
          </a:xfrm>
          <a:prstGeom prst="rect">
            <a:avLst/>
          </a:prstGeom>
          <a:solidFill>
            <a:srgbClr val="DD8452">
              <a:alpha val="15000"/>
            </a:srgbClr>
          </a:solidFill>
          <a:ln w="12700">
            <a:solidFill>
              <a:srgbClr val="DD8452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29" name="Text 27"/>
          <p:cNvSpPr/>
          <p:nvPr/>
        </p:nvSpPr>
        <p:spPr>
          <a:xfrm>
            <a:off x="3337560" y="348386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→ 1 output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1840" y="400507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gates for efficiency: fewer params, faster convergence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6480" y="777240"/>
            <a:ext cx="274320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32" name="Shape 30"/>
          <p:cNvSpPr/>
          <p:nvPr/>
        </p:nvSpPr>
        <p:spPr>
          <a:xfrm>
            <a:off x="6126480" y="777240"/>
            <a:ext cx="2743200" cy="64008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3" name="Text 31"/>
          <p:cNvSpPr/>
          <p:nvPr/>
        </p:nvSpPr>
        <p:spPr>
          <a:xfrm>
            <a:off x="6126480" y="8229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6126480" y="148132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~110M params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63640" y="1828800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6" name="Text 34"/>
          <p:cNvSpPr/>
          <p:nvPr/>
        </p:nvSpPr>
        <p:spPr>
          <a:xfrm>
            <a:off x="6263640" y="1892808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WordPiece Tokenizer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263640" y="2359152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8" name="Text 36"/>
          <p:cNvSpPr/>
          <p:nvPr/>
        </p:nvSpPr>
        <p:spPr>
          <a:xfrm>
            <a:off x="6263640" y="2423160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Transformer layers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63640" y="2889504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40" name="Text 38"/>
          <p:cNvSpPr/>
          <p:nvPr/>
        </p:nvSpPr>
        <p:spPr>
          <a:xfrm>
            <a:off x="6263640" y="2953512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 on [CLS] (p=0.3)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63640" y="3419856"/>
            <a:ext cx="2468880" cy="420624"/>
          </a:xfrm>
          <a:prstGeom prst="rect">
            <a:avLst/>
          </a:prstGeom>
          <a:solidFill>
            <a:srgbClr val="2CA02C">
              <a:alpha val="15000"/>
            </a:srgbClr>
          </a:solidFill>
          <a:ln w="12700">
            <a:solidFill>
              <a:srgbClr val="2CA02C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42" name="Text 40"/>
          <p:cNvSpPr/>
          <p:nvPr/>
        </p:nvSpPr>
        <p:spPr>
          <a:xfrm>
            <a:off x="6263640" y="3483864"/>
            <a:ext cx="2468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→ 1 output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217920" y="4005072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on 3.3B words:  fine-tuned end-to-end for classification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Process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54864" cy="388620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&amp; GRU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3840480" cy="3200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  (lr = 1e-3)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BCEWithLogitsLoss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seq len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tokens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stop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Patience =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846320" y="777240"/>
            <a:ext cx="54864" cy="388620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9" name="Text 6"/>
          <p:cNvSpPr/>
          <p:nvPr/>
        </p:nvSpPr>
        <p:spPr>
          <a:xfrm>
            <a:off x="5029200" y="82296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Fine-Tuning</a:t>
            </a:r>
            <a:endParaRPr lang="en-US" sz="15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234440"/>
          <a:ext cx="3840480" cy="3200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bert-base-uncased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  (lr = 2e-5)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BCEWithLogitsLoss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seq len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tokens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warmup (10%)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 clipping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norm = 1.0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Curves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76" y="777240"/>
            <a:ext cx="7470648" cy="1874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26974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1: Training &amp; validation loss per epoch for LSTM, GRU, and BERT</a:t>
            </a:r>
            <a:endParaRPr lang="en-US" sz="1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42186" y="2999232"/>
            <a:ext cx="5259629" cy="18745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919472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2: Validation accuracy and F1-score per epoch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Test Set Performance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2560320" cy="1417320"/>
          </a:xfrm>
          <a:prstGeom prst="rect">
            <a:avLst/>
          </a:prstGeom>
          <a:solidFill>
            <a:srgbClr val="4C72B0"/>
          </a:solidFill>
          <a:ln w="12700">
            <a:solidFill>
              <a:srgbClr val="4C72B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5760" y="1755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73.9%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777240"/>
            <a:ext cx="2560320" cy="1417320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0" name="Text 8"/>
          <p:cNvSpPr/>
          <p:nvPr/>
        </p:nvSpPr>
        <p:spPr>
          <a:xfrm>
            <a:off x="3200400" y="841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400" y="11887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82.5%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200400" y="1755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83.1%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777240"/>
            <a:ext cx="2560320" cy="1417320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LB"/>
          </a:p>
        </p:txBody>
      </p:sp>
      <p:sp>
        <p:nvSpPr>
          <p:cNvPr id="14" name="Text 12"/>
          <p:cNvSpPr/>
          <p:nvPr/>
        </p:nvSpPr>
        <p:spPr>
          <a:xfrm>
            <a:off x="6035040" y="841248"/>
            <a:ext cx="2560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035040" y="118872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91.4%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6035040" y="17556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91.3%</a:t>
            </a:r>
            <a:endParaRPr lang="en-US" sz="11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128" y="2276061"/>
            <a:ext cx="4809744" cy="23774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3: Accuracy, Precision, Recall and F1-Score on the 25,000-sample test set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411480" y="137160"/>
            <a:ext cx="8321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Results: Confusion Matrix Analysis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11480" y="621792"/>
            <a:ext cx="8321040" cy="2743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804672"/>
            <a:ext cx="5031029" cy="20116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2852928"/>
            <a:ext cx="5031029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(left)  ·  GRU (right)</a:t>
            </a:r>
            <a:endParaRPr lang="en-US" sz="10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5878" y="804672"/>
            <a:ext cx="2533802" cy="20116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335878" y="2852928"/>
            <a:ext cx="253380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365760" y="318211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52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Observations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365760" y="3511296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4C72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6,552 total errors, roughly symmetric between false positives and false negatives.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DD84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GRU: 4,377 errors; biased toward false positives (recall 86% &gt; precision 80%).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CA0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BERT: only 2,161 errors; near-balanced, precision 92.2% vs recall 90.4%.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Key Insights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22960"/>
            <a:ext cx="4572000" cy="36576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57200" cy="658368"/>
          </a:xfrm>
          <a:prstGeom prst="rect">
            <a:avLst/>
          </a:prstGeom>
          <a:solidFill>
            <a:srgbClr val="2CA02C"/>
          </a:solidFill>
          <a:ln w="12700">
            <a:solidFill>
              <a:srgbClr val="2CA02C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6" name="Text 4"/>
          <p:cNvSpPr/>
          <p:nvPr/>
        </p:nvSpPr>
        <p:spPr>
          <a:xfrm>
            <a:off x="365760" y="111556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106070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achieves 91.4% accuracy: outperforming GRU by +9% and LSTM by +18%. Pre-training on 3.3B words gives a decisive advantage.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65760" y="1965960"/>
            <a:ext cx="457200" cy="658368"/>
          </a:xfrm>
          <a:prstGeom prst="rect">
            <a:avLst/>
          </a:prstGeom>
          <a:solidFill>
            <a:srgbClr val="DD8452"/>
          </a:solidFill>
          <a:ln w="12700">
            <a:solidFill>
              <a:srgbClr val="DD8452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9" name="Text 7"/>
          <p:cNvSpPr/>
          <p:nvPr/>
        </p:nvSpPr>
        <p:spPr>
          <a:xfrm>
            <a:off x="365760" y="207568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202082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outperforms LSTM despite being simpler. Fewer, more efficient gates generalise better on this task.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65760" y="2926080"/>
            <a:ext cx="457200" cy="658368"/>
          </a:xfrm>
          <a:prstGeom prst="rect">
            <a:avLst/>
          </a:prstGeom>
          <a:solidFill>
            <a:srgbClr val="E8A020"/>
          </a:solidFill>
          <a:ln w="12700">
            <a:solidFill>
              <a:srgbClr val="E8A02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2" name="Text 10"/>
          <p:cNvSpPr/>
          <p:nvPr/>
        </p:nvSpPr>
        <p:spPr>
          <a:xfrm>
            <a:off x="365760" y="303580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" y="298094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</a:t>
            </a:r>
            <a:r>
              <a:rPr lang="en-US" sz="1250" dirty="0" err="1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generalise</a:t>
            </a: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well: the train/test accuracy gap is small, indicating no significant overfitting.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65760" y="3886200"/>
            <a:ext cx="4572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LB"/>
          </a:p>
        </p:txBody>
      </p:sp>
      <p:sp>
        <p:nvSpPr>
          <p:cNvPr id="15" name="Text 13"/>
          <p:cNvSpPr/>
          <p:nvPr/>
        </p:nvSpPr>
        <p:spPr>
          <a:xfrm>
            <a:off x="365760" y="399592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" y="394106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0E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trade-off: BERT is ~10× slower to train and requires more memory. Choose based on constraints.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608</Words>
  <Application>Microsoft Macintosh PowerPoint</Application>
  <PresentationFormat>On-screen Show (16:9)</PresentationFormat>
  <Paragraphs>150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Sentiment Analysis of Movie Reviews</dc:title>
  <dc:subject>PptxGenJS Presentation</dc:subject>
  <dc:creator>Daniel Wehde &amp; Rami Aabed</dc:creator>
  <cp:lastModifiedBy>Daniel Wehbe</cp:lastModifiedBy>
  <cp:revision>3</cp:revision>
  <dcterms:created xsi:type="dcterms:W3CDTF">2026-04-19T13:32:14Z</dcterms:created>
  <dcterms:modified xsi:type="dcterms:W3CDTF">2026-05-10T12:21:16Z</dcterms:modified>
</cp:coreProperties>
</file>