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822960"/>
            <a:ext cx="65836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Analysis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Movie Reviews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457200" y="2651760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8BB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 ·  GRU  ·  BERT: A Comparative Study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3246120"/>
            <a:ext cx="3200400" cy="36576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3429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 Wehde &amp; Rami Aabed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A8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for NLP  ·  April 2026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0" y="0"/>
            <a:ext cx="1828800" cy="5143500"/>
          </a:xfrm>
          <a:prstGeom prst="rect">
            <a:avLst/>
          </a:prstGeom>
          <a:solidFill>
            <a:srgbClr val="162850"/>
          </a:solidFill>
          <a:ln w="12700">
            <a:solidFill>
              <a:srgbClr val="16285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543800" y="914400"/>
            <a:ext cx="1371600" cy="822960"/>
          </a:xfrm>
          <a:prstGeom prst="rect">
            <a:avLst/>
          </a:prstGeom>
          <a:solidFill>
            <a:srgbClr val="4C72B0"/>
          </a:solidFill>
          <a:ln w="12700">
            <a:solidFill>
              <a:srgbClr val="4C72B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543800" y="1078992"/>
            <a:ext cx="13716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7543800" y="2103120"/>
            <a:ext cx="1371600" cy="822960"/>
          </a:xfrm>
          <a:prstGeom prst="rect">
            <a:avLst/>
          </a:prstGeom>
          <a:solidFill>
            <a:srgbClr val="DD8452"/>
          </a:solidFill>
          <a:ln w="12700">
            <a:solidFill>
              <a:srgbClr val="DD845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543800" y="2267712"/>
            <a:ext cx="13716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7543800" y="3291840"/>
            <a:ext cx="1371600" cy="822960"/>
          </a:xfrm>
          <a:prstGeom prst="rect">
            <a:avLst/>
          </a:prstGeom>
          <a:solidFill>
            <a:srgbClr val="2CA02C"/>
          </a:solidFill>
          <a:ln w="12700">
            <a:solidFill>
              <a:srgbClr val="2CA02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543800" y="3456432"/>
            <a:ext cx="13716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37160"/>
            <a:ext cx="8321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8321040" cy="27432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8229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52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11480" y="118872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a movie review, automatically determine whether the sentiment expressed is positive or negative.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binary text classification task — one of the most fundamental problems in Natural Language Processing.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11480" y="26060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52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11480" y="297180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review monitoring at scale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media opinion analysis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feedback classification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reputation tracking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760720" y="777240"/>
            <a:ext cx="2971800" cy="37490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760720" y="86868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Approach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989320" y="1417320"/>
            <a:ext cx="2514600" cy="777240"/>
          </a:xfrm>
          <a:prstGeom prst="rect">
            <a:avLst/>
          </a:prstGeom>
          <a:solidFill>
            <a:srgbClr val="4C72B0"/>
          </a:solidFill>
          <a:ln w="12700">
            <a:solidFill>
              <a:srgbClr val="4C72B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89320" y="1453896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989320" y="181965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Recurrent + learned embeddings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89320" y="2423160"/>
            <a:ext cx="2514600" cy="777240"/>
          </a:xfrm>
          <a:prstGeom prst="rect">
            <a:avLst/>
          </a:prstGeom>
          <a:solidFill>
            <a:srgbClr val="DD8452"/>
          </a:solidFill>
          <a:ln w="12700">
            <a:solidFill>
              <a:srgbClr val="DD845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89320" y="2459736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989320" y="282549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Streamlined recurrent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989320" y="3429000"/>
            <a:ext cx="2514600" cy="777240"/>
          </a:xfrm>
          <a:prstGeom prst="rect">
            <a:avLst/>
          </a:prstGeom>
          <a:solidFill>
            <a:srgbClr val="2CA02C"/>
          </a:solidFill>
          <a:ln w="12700">
            <a:solidFill>
              <a:srgbClr val="2CA02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89320" y="3465576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989320" y="38313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Pre-trained transformer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760720" y="4160520"/>
            <a:ext cx="2971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BB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dataset · Same metrics · Direct comparison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37160"/>
            <a:ext cx="8321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— IMDb Large Movie Review Dataset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8321040" cy="27432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777240"/>
            <a:ext cx="2560320" cy="10972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11480" y="86868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50,000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11480" y="1417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8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Reviews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46120" y="777240"/>
            <a:ext cx="2560320" cy="10972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46120" y="86868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246120" y="1417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8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080760" y="777240"/>
            <a:ext cx="2560320" cy="10972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080760" y="86868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/ 50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080760" y="1417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8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 / Neg Balance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11480" y="20574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52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Splits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395728"/>
          <a:ext cx="4572000" cy="1463040"/>
        </p:xfrm>
        <a:graphic>
          <a:graphicData uri="http://schemas.openxmlformats.org/drawingml/2006/table">
            <a:tbl>
              <a:tblPr/>
              <a:tblGrid>
                <a:gridCol w="1645920"/>
                <a:gridCol w="1463040"/>
                <a:gridCol w="146304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Balance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 / 50%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 / 50%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 / 50%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5303520" y="777240"/>
            <a:ext cx="34290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303520" y="777240"/>
            <a:ext cx="64008" cy="37490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486400" y="914400"/>
            <a:ext cx="3108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52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5486400" y="132588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&amp; GRU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5486400" y="160020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HTML tags &amp; special characters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Lowercase + whitespace tokenisation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 / truncate to 200 tokens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vocabulary: top 20,000 words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5486400" y="283464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A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486400" y="310896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WordPiece subword tokenisation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[CLS] and [SEP] tokens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 / truncate to 256 tokens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37160"/>
            <a:ext cx="8321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Architectures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8321040" cy="27432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777240"/>
            <a:ext cx="2743200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2743200" cy="640080"/>
          </a:xfrm>
          <a:prstGeom prst="rect">
            <a:avLst/>
          </a:prstGeom>
          <a:solidFill>
            <a:srgbClr val="4C72B0"/>
          </a:solidFill>
          <a:ln w="12700">
            <a:solidFill>
              <a:srgbClr val="4C72B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82296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74320" y="148132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~3.8M params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11480" y="1828800"/>
            <a:ext cx="2468880" cy="420624"/>
          </a:xfrm>
          <a:prstGeom prst="rect">
            <a:avLst/>
          </a:prstGeom>
          <a:solidFill>
            <a:srgbClr val="4C72B0">
              <a:alpha val="15000"/>
            </a:srgbClr>
          </a:solidFill>
          <a:ln w="12700">
            <a:solidFill>
              <a:srgbClr val="4C72B0">
                <a:alpha val="4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892808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Layer (128-dim)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11480" y="2359152"/>
            <a:ext cx="2468880" cy="420624"/>
          </a:xfrm>
          <a:prstGeom prst="rect">
            <a:avLst/>
          </a:prstGeom>
          <a:solidFill>
            <a:srgbClr val="4C72B0">
              <a:alpha val="15000"/>
            </a:srgbClr>
          </a:solidFill>
          <a:ln w="12700">
            <a:solidFill>
              <a:srgbClr val="4C72B0">
                <a:alpha val="4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423160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(128 hidden units)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11480" y="2889504"/>
            <a:ext cx="2468880" cy="420624"/>
          </a:xfrm>
          <a:prstGeom prst="rect">
            <a:avLst/>
          </a:prstGeom>
          <a:solidFill>
            <a:srgbClr val="4C72B0">
              <a:alpha val="15000"/>
            </a:srgbClr>
          </a:solidFill>
          <a:ln w="12700">
            <a:solidFill>
              <a:srgbClr val="4C72B0">
                <a:alpha val="4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2953512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 (p=0.3)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11480" y="3419856"/>
            <a:ext cx="2468880" cy="420624"/>
          </a:xfrm>
          <a:prstGeom prst="rect">
            <a:avLst/>
          </a:prstGeom>
          <a:solidFill>
            <a:srgbClr val="4C72B0">
              <a:alpha val="15000"/>
            </a:srgbClr>
          </a:solidFill>
          <a:ln w="12700">
            <a:solidFill>
              <a:srgbClr val="4C72B0">
                <a:alpha val="4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1480" y="3483864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→ 1 output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65760" y="4005072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forget, input &amp; output gates to control long-range memory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200400" y="777240"/>
            <a:ext cx="2743200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200400" y="777240"/>
            <a:ext cx="2743200" cy="640080"/>
          </a:xfrm>
          <a:prstGeom prst="rect">
            <a:avLst/>
          </a:prstGeom>
          <a:solidFill>
            <a:srgbClr val="DD8452"/>
          </a:solidFill>
          <a:ln w="12700">
            <a:solidFill>
              <a:srgbClr val="DD845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00400" y="82296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3200400" y="148132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~3.5M params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337560" y="1828800"/>
            <a:ext cx="2468880" cy="420624"/>
          </a:xfrm>
          <a:prstGeom prst="rect">
            <a:avLst/>
          </a:prstGeom>
          <a:solidFill>
            <a:srgbClr val="DD8452">
              <a:alpha val="15000"/>
            </a:srgbClr>
          </a:solidFill>
          <a:ln w="12700">
            <a:solidFill>
              <a:srgbClr val="DD8452">
                <a:alpha val="40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37560" y="1892808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Layer (128-dim)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337560" y="2359152"/>
            <a:ext cx="2468880" cy="420624"/>
          </a:xfrm>
          <a:prstGeom prst="rect">
            <a:avLst/>
          </a:prstGeom>
          <a:solidFill>
            <a:srgbClr val="DD8452">
              <a:alpha val="15000"/>
            </a:srgbClr>
          </a:solidFill>
          <a:ln w="12700">
            <a:solidFill>
              <a:srgbClr val="DD8452">
                <a:alpha val="4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37560" y="2423160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 (128 hidden units)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337560" y="2889504"/>
            <a:ext cx="2468880" cy="420624"/>
          </a:xfrm>
          <a:prstGeom prst="rect">
            <a:avLst/>
          </a:prstGeom>
          <a:solidFill>
            <a:srgbClr val="DD8452">
              <a:alpha val="15000"/>
            </a:srgbClr>
          </a:solidFill>
          <a:ln w="12700">
            <a:solidFill>
              <a:srgbClr val="DD8452">
                <a:alpha val="4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37560" y="2953512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 (p=0.3)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337560" y="3419856"/>
            <a:ext cx="2468880" cy="420624"/>
          </a:xfrm>
          <a:prstGeom prst="rect">
            <a:avLst/>
          </a:prstGeom>
          <a:solidFill>
            <a:srgbClr val="DD8452">
              <a:alpha val="15000"/>
            </a:srgbClr>
          </a:solidFill>
          <a:ln w="12700">
            <a:solidFill>
              <a:srgbClr val="DD8452">
                <a:alpha val="40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337560" y="3483864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→ 1 output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291840" y="4005072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gates for efficiency — fewer params, faster convergence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6480" y="777240"/>
            <a:ext cx="2743200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126480" y="777240"/>
            <a:ext cx="2743200" cy="640080"/>
          </a:xfrm>
          <a:prstGeom prst="rect">
            <a:avLst/>
          </a:prstGeom>
          <a:solidFill>
            <a:srgbClr val="2CA02C"/>
          </a:solidFill>
          <a:ln w="12700">
            <a:solidFill>
              <a:srgbClr val="2CA02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26480" y="82296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6126480" y="148132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~110M params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263640" y="1828800"/>
            <a:ext cx="2468880" cy="420624"/>
          </a:xfrm>
          <a:prstGeom prst="rect">
            <a:avLst/>
          </a:prstGeom>
          <a:solidFill>
            <a:srgbClr val="2CA02C">
              <a:alpha val="15000"/>
            </a:srgbClr>
          </a:solidFill>
          <a:ln w="12700">
            <a:solidFill>
              <a:srgbClr val="2CA02C">
                <a:alpha val="4000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263640" y="1892808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WordPiece Tokenizer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263640" y="2359152"/>
            <a:ext cx="2468880" cy="420624"/>
          </a:xfrm>
          <a:prstGeom prst="rect">
            <a:avLst/>
          </a:prstGeom>
          <a:solidFill>
            <a:srgbClr val="2CA02C">
              <a:alpha val="15000"/>
            </a:srgbClr>
          </a:solidFill>
          <a:ln w="12700">
            <a:solidFill>
              <a:srgbClr val="2CA02C">
                <a:alpha val="4000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263640" y="2423160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Transformer layers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263640" y="2889504"/>
            <a:ext cx="2468880" cy="420624"/>
          </a:xfrm>
          <a:prstGeom prst="rect">
            <a:avLst/>
          </a:prstGeom>
          <a:solidFill>
            <a:srgbClr val="2CA02C">
              <a:alpha val="15000"/>
            </a:srgbClr>
          </a:solidFill>
          <a:ln w="12700">
            <a:solidFill>
              <a:srgbClr val="2CA02C">
                <a:alpha val="4000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263640" y="2953512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 on [CLS] (p=0.3)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263640" y="3419856"/>
            <a:ext cx="2468880" cy="420624"/>
          </a:xfrm>
          <a:prstGeom prst="rect">
            <a:avLst/>
          </a:prstGeom>
          <a:solidFill>
            <a:srgbClr val="2CA02C">
              <a:alpha val="15000"/>
            </a:srgbClr>
          </a:solidFill>
          <a:ln w="12700">
            <a:solidFill>
              <a:srgbClr val="2CA02C">
                <a:alpha val="4000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263640" y="3483864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→ 1 output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217920" y="4005072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Pre-trained on 3.3B words — fine-tuned end-to-end for classification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37160"/>
            <a:ext cx="8321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Process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8321040" cy="27432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777240"/>
            <a:ext cx="54864" cy="3886200"/>
          </a:xfrm>
          <a:prstGeom prst="rect">
            <a:avLst/>
          </a:prstGeom>
          <a:solidFill>
            <a:srgbClr val="4C72B0"/>
          </a:solidFill>
          <a:ln w="12700">
            <a:solidFill>
              <a:srgbClr val="4C72B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822960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&amp; GRU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3840480" cy="3200400"/>
        </p:xfrm>
        <a:graphic>
          <a:graphicData uri="http://schemas.openxmlformats.org/drawingml/2006/table">
            <a:tbl>
              <a:tblPr/>
              <a:tblGrid>
                <a:gridCol w="164592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Optimiser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Adam  (lr = 1e-3)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BCEWithLogitsLoss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 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seq len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tokens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Vocab 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Epochs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 stop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Patience = 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846320" y="777240"/>
            <a:ext cx="54864" cy="3886200"/>
          </a:xfrm>
          <a:prstGeom prst="rect">
            <a:avLst/>
          </a:prstGeom>
          <a:solidFill>
            <a:srgbClr val="2CA02C"/>
          </a:solidFill>
          <a:ln w="12700">
            <a:solidFill>
              <a:srgbClr val="2CA02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0" y="822960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A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 Fine-Tuning</a:t>
            </a:r>
            <a:endParaRPr lang="en-US" sz="15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234440"/>
          <a:ext cx="3840480" cy="3200400"/>
        </p:xfrm>
        <a:graphic>
          <a:graphicData uri="http://schemas.openxmlformats.org/drawingml/2006/table">
            <a:tbl>
              <a:tblPr/>
              <a:tblGrid>
                <a:gridCol w="1737360"/>
                <a:gridCol w="2103120"/>
              </a:tblGrid>
              <a:tr h="4000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bert-base-uncased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Optimiser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AdamW  (lr = 2e-5)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BCEWithLogitsLoss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 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seq len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 tokens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warmup (10%)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 clipping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norm = 1.0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Epochs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37160"/>
            <a:ext cx="8321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Curves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8321040" cy="27432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676" y="777240"/>
            <a:ext cx="7470648" cy="1874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26974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1: Training &amp; validation loss per epoch for LSTM, GRU, and BERT</a:t>
            </a:r>
            <a:endParaRPr lang="en-US" sz="10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2186" y="2999232"/>
            <a:ext cx="5259629" cy="18745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57200" y="4919472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2: Validation accuracy and F1-score per epoch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37160"/>
            <a:ext cx="8321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Test Set Performance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8321040" cy="27432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777240"/>
            <a:ext cx="2560320" cy="1417320"/>
          </a:xfrm>
          <a:prstGeom prst="rect">
            <a:avLst/>
          </a:prstGeom>
          <a:solidFill>
            <a:srgbClr val="4C72B0"/>
          </a:solidFill>
          <a:ln w="12700">
            <a:solidFill>
              <a:srgbClr val="4C72B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65760" y="841248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118872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73.8%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365760" y="175564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F1: 73.9%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0" y="777240"/>
            <a:ext cx="2560320" cy="1417320"/>
          </a:xfrm>
          <a:prstGeom prst="rect">
            <a:avLst/>
          </a:prstGeom>
          <a:solidFill>
            <a:srgbClr val="DD8452"/>
          </a:solidFill>
          <a:ln w="12700">
            <a:solidFill>
              <a:srgbClr val="DD845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200400" y="841248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200400" y="118872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82.5%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3200400" y="175564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F1: 83.1%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35040" y="777240"/>
            <a:ext cx="2560320" cy="1417320"/>
          </a:xfrm>
          <a:prstGeom prst="rect">
            <a:avLst/>
          </a:prstGeom>
          <a:solidFill>
            <a:srgbClr val="2CA02C"/>
          </a:solidFill>
          <a:ln w="12700">
            <a:solidFill>
              <a:srgbClr val="2CA02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035040" y="841248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035040" y="118872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91.4%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6035040" y="175564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F1: 91.3%</a:t>
            </a:r>
            <a:endParaRPr lang="en-US" sz="11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7128" y="2331720"/>
            <a:ext cx="4809744" cy="237744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3: Accuracy, Precision, Recall and F1-Score on the 25,000-sample test set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37160"/>
            <a:ext cx="8321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Confusion Matrix Analysis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8321040" cy="27432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804672"/>
            <a:ext cx="5031029" cy="20116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4320" y="2852928"/>
            <a:ext cx="5031029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(left)  ·  GRU (right)</a:t>
            </a:r>
            <a:endParaRPr lang="en-US" sz="10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5878" y="804672"/>
            <a:ext cx="2533802" cy="20116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335878" y="2852928"/>
            <a:ext cx="25338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365760" y="3182112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52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Observations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365760" y="3511296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— 6,552 total errors, roughly symmetric between false positives and false negatives.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DD84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 — 4,377 errors; biased toward false positives (recall 86% &gt; precision 80%).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CA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 — only 2,161 errors; near-balanced, precision 92.2% vs recall 90.4%.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743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Key Insights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822960"/>
            <a:ext cx="4572000" cy="36576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005840"/>
            <a:ext cx="457200" cy="658368"/>
          </a:xfrm>
          <a:prstGeom prst="rect">
            <a:avLst/>
          </a:prstGeom>
          <a:solidFill>
            <a:srgbClr val="2CA02C"/>
          </a:solidFill>
          <a:ln w="12700">
            <a:solidFill>
              <a:srgbClr val="2CA02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115568"/>
            <a:ext cx="457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60120" y="1060704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 achieves 91.4% accuracy — outperforming GRU by +9% and LSTM by +18%. Pre-training on 3.3B words gives a decisive advantage.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65760" y="1965960"/>
            <a:ext cx="457200" cy="658368"/>
          </a:xfrm>
          <a:prstGeom prst="rect">
            <a:avLst/>
          </a:prstGeom>
          <a:solidFill>
            <a:srgbClr val="DD8452"/>
          </a:solidFill>
          <a:ln w="12700">
            <a:solidFill>
              <a:srgbClr val="DD845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2075688"/>
            <a:ext cx="457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60120" y="2020824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 outperforms LSTM despite being simpler. Fewer, more efficient gates generalise better on this task.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65760" y="2926080"/>
            <a:ext cx="457200" cy="658368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3035808"/>
            <a:ext cx="457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60120" y="2980944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models generalise well — the train/test accuracy gap is small, indicating no significant overfitting.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365760" y="3886200"/>
            <a:ext cx="457200" cy="65836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995928"/>
            <a:ext cx="457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60120" y="3941064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trade-off: BERT is ~10× slower to train and requires more memory. Choose based on constraints.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Sentiment Analysis of Movie Reviews</dc:title>
  <dc:subject>PptxGenJS Presentation</dc:subject>
  <dc:creator>Daniel Wehde &amp; Rami Aabed</dc:creator>
  <cp:lastModifiedBy>Daniel Wehde &amp; Rami Aabed</cp:lastModifiedBy>
  <cp:revision>1</cp:revision>
  <dcterms:created xsi:type="dcterms:W3CDTF">2026-04-19T13:32:14Z</dcterms:created>
  <dcterms:modified xsi:type="dcterms:W3CDTF">2026-04-19T13:32:14Z</dcterms:modified>
</cp:coreProperties>
</file>